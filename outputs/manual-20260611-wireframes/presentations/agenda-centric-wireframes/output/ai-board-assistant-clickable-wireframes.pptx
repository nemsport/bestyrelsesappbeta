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e67daeb73343bb" /><Relationship Type="http://schemas.openxmlformats.org/officeDocument/2006/relationships/extended-properties" Target="/docProps/app.xml" Id="Rb84e37f1e09c433b" /><Relationship Type="http://schemas.openxmlformats.org/officeDocument/2006/relationships/officeDocument" Target="/ppt/presentation.xml" Id="R43384eb9b78f4b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3ce287538549e5"/>
  </p:sldMasterIdLst>
  <p:notesMasterIdLst>
    <p:notesMasterId xmlns:r="http://schemas.openxmlformats.org/officeDocument/2006/relationships" r:id="Rf77d9102d97640f6"/>
  </p:notesMasterIdLst>
  <p:sldIdLst>
    <p:sldId xmlns:r="http://schemas.openxmlformats.org/officeDocument/2006/relationships" id="256" r:id="Rcc553a14c0b94311"/>
    <p:sldId xmlns:r="http://schemas.openxmlformats.org/officeDocument/2006/relationships" id="257" r:id="R70853369ff8948d6"/>
    <p:sldId xmlns:r="http://schemas.openxmlformats.org/officeDocument/2006/relationships" id="258" r:id="R468c8ec438e04f32"/>
    <p:sldId xmlns:r="http://schemas.openxmlformats.org/officeDocument/2006/relationships" id="259" r:id="R10f823d575fd44a3"/>
    <p:sldId xmlns:r="http://schemas.openxmlformats.org/officeDocument/2006/relationships" id="260" r:id="R90a4be6013f44f7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029e6de139401d" /><Relationship Type="http://schemas.openxmlformats.org/officeDocument/2006/relationships/slideMaster" Target="/ppt/slideMasters/slideMaster1.xml" Id="Rda3ce287538549e5" /><Relationship Type="http://schemas.openxmlformats.org/officeDocument/2006/relationships/notesMaster" Target="/ppt/notesMasters/notesMaster1.xml" Id="Rf77d9102d97640f6" /><Relationship Type="http://schemas.openxmlformats.org/officeDocument/2006/relationships/presProps" Target="/ppt/presProps.xml" Id="R7108c25315c44d0a" /><Relationship Type="http://schemas.openxmlformats.org/officeDocument/2006/relationships/viewProps" Target="/ppt/viewProps.xml" Id="R75ed89853f384d2a" /><Relationship Type="http://schemas.openxmlformats.org/officeDocument/2006/relationships/tableStyles" Target="/ppt/tableStyles.xml" Id="R57d911f0db0b4d73" /><Relationship Type="http://schemas.openxmlformats.org/officeDocument/2006/relationships/slide" Target="/ppt/slides/slide1.xml" Id="Rcc553a14c0b94311" /><Relationship Type="http://schemas.openxmlformats.org/officeDocument/2006/relationships/slide" Target="/ppt/slides/slide2.xml" Id="R70853369ff8948d6" /><Relationship Type="http://schemas.openxmlformats.org/officeDocument/2006/relationships/slide" Target="/ppt/slides/slide3.xml" Id="R468c8ec438e04f32" /><Relationship Type="http://schemas.openxmlformats.org/officeDocument/2006/relationships/slide" Target="/ppt/slides/slide4.xml" Id="R10f823d575fd44a3" /><Relationship Type="http://schemas.openxmlformats.org/officeDocument/2006/relationships/slide" Target="/ppt/slides/slide5.xml" Id="R90a4be6013f44f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dc4564d23745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c94e750efb45f2" /><Relationship Type="http://schemas.openxmlformats.org/officeDocument/2006/relationships/notesMaster" Target="/ppt/notesMasters/notesMaster1.xml" Id="R8bd0086a156c4d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3685f3fe7499c" /><Relationship Type="http://schemas.openxmlformats.org/officeDocument/2006/relationships/notesMaster" Target="/ppt/notesMasters/notesMaster1.xml" Id="Rf5ca48f752da49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e8d1af4f8264bdb" /><Relationship Type="http://schemas.openxmlformats.org/officeDocument/2006/relationships/notesMaster" Target="/ppt/notesMasters/notesMaster1.xml" Id="Rf78cac559f774b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6a2dc871c34f2e" /><Relationship Type="http://schemas.openxmlformats.org/officeDocument/2006/relationships/notesMaster" Target="/ppt/notesMasters/notesMaster1.xml" Id="Rbcc3f9c5d6b84f9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d5a5260162043ab" /><Relationship Type="http://schemas.openxmlformats.org/officeDocument/2006/relationships/notesMaster" Target="/ppt/notesMasters/notesMaster1.xml" Id="R474fee06036c498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38e2e3f8db43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14d63ede6864303" /><Relationship Type="http://schemas.openxmlformats.org/officeDocument/2006/relationships/slideLayout" Target="/ppt/slideLayouts/slideLayout1.xml" Id="R5b5fb29284a442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fb29284a442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a0247f08814e7a" /><Relationship Type="http://schemas.openxmlformats.org/officeDocument/2006/relationships/notesSlide" Target="/ppt/notesSlides/notesSlide1.xml" Id="Rd4640072200c413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60e8375b95469f" /><Relationship Type="http://schemas.openxmlformats.org/officeDocument/2006/relationships/notesSlide" Target="/ppt/notesSlides/notesSlide2.xml" Id="R45cbacc6000a410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5aa3413a442a6" /><Relationship Type="http://schemas.openxmlformats.org/officeDocument/2006/relationships/notesSlide" Target="/ppt/notesSlides/notesSlide3.xml" Id="R6677823345fb4a7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25acdc426c413c" /><Relationship Type="http://schemas.openxmlformats.org/officeDocument/2006/relationships/notesSlide" Target="/ppt/notesSlides/notesSlide4.xml" Id="R99f7f93e1e3f49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f749bfbe594e8f" /><Relationship Type="http://schemas.openxmlformats.org/officeDocument/2006/relationships/notesSlide" Target="/ppt/notesSlides/notesSlide5.xml" Id="R43969cf0921f4f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660534-CDFB-43C9-8F42-61F288A7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66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F6262-4C43-4B64-A985-4DB06E15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BOARD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5AFDE-ED0E-4324-85B1-A8858637D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667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5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5CD"/>
                </a:solidFill>
                <a:latin typeface="Aptos"/>
                <a:ea typeface="Aptos"/>
                <a:cs typeface="Aptos"/>
              </a:rPr>
              <a:t>Northstar Board</a:t>
            </a:r>
          </a:p>
        </p:txBody>
      </p:sp>
      <p:sp>
        <p:nvSpPr>
          <p:cNvPr id="4" name="">
            <a:hlinkClick xmlns:a="http://schemas.openxmlformats.org/drawingml/2006/main" action="ppaction://hlinkshowjump?jump=firstslide"/>
            <a:extLst xmlns:a="http://schemas.openxmlformats.org/drawingml/2006/main">
              <a:ext uri="{FF2B5EF4-FFF2-40B4-BE49-F238E27FC236}">
                <a16:creationId xmlns:a16="http://schemas.microsoft.com/office/drawing/2014/main" id="{3E0433C9-DBD5-4725-830E-B0FFF05A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287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35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352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5" name="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CE9DEB42-E392-4D55-BCF5-2EB05CDFB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9240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Meetings</a:t>
            </a:r>
          </a:p>
        </p:txBody>
      </p:sp>
      <p:sp>
        <p:nvSpPr>
          <p:cNvPr id="6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9A0BC954-93F6-4773-B6E3-3C4908BF3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193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Agenda items</a:t>
            </a:r>
          </a:p>
        </p:txBody>
      </p:sp>
      <p:sp>
        <p:nvSpPr>
          <p:cNvPr id="7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4B6DE5BD-0E7C-4130-8C6A-5A0F5A6E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9146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Task board</a:t>
            </a:r>
          </a:p>
        </p:txBody>
      </p:sp>
      <p:sp>
        <p:nvSpPr>
          <p:cNvPr id="8" name="">
            <a:hlinkClick xmlns:a="http://schemas.openxmlformats.org/drawingml/2006/main" action="ppaction://hlinkshowjump?jump=lastslide"/>
            <a:extLst xmlns:a="http://schemas.openxmlformats.org/drawingml/2006/main">
              <a:ext uri="{FF2B5EF4-FFF2-40B4-BE49-F238E27FC236}">
                <a16:creationId xmlns:a16="http://schemas.microsoft.com/office/drawing/2014/main" id="{99D0F264-62A3-4411-90C6-8F55D3F0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099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Annual wheel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ACD0AE-7843-450E-B22D-62845EFC8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1912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Prototype navigation</a:t>
            </a:r>
          </a:p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Click green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E3A202-AC9D-4773-99EF-6E542353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642592-0F9F-48DF-BA40-3EBF600A3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6250"/>
            <a:ext cx="685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What needs the board’s attention?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A3798-4102-4581-B9D2-CE4EE52A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Memory first: unresolved decisions and execution risks rise to the top.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C936E2-5473-4710-BB55-AC100401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90650"/>
            <a:ext cx="619125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AED89-6A21-43FE-9D48-E409D6C09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71625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NEXT MEETING · 18 JUN · 09:00</a:t>
            </a:r>
          </a:p>
        </p:txBody>
      </p:sp>
      <p:sp>
        <p:nvSpPr>
          <p:cNvPr id="15" name="">
            <a:hlinkClick xmlns:a="http://schemas.openxmlformats.org/drawingml/2006/main" action="ppaction://hlinkshowjump?jump=undefined"/>
            <a:extLst xmlns:a="http://schemas.openxmlformats.org/drawingml/2006/main">
              <a:ext uri="{FF2B5EF4-FFF2-40B4-BE49-F238E27FC236}">
                <a16:creationId xmlns:a16="http://schemas.microsoft.com/office/drawing/2014/main" id="{F25BBBAC-44D4-448F-AA31-0B47A339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66900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Q2 Board Meeting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27F54-DB4C-4AF7-B5EC-A613F18E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38375"/>
            <a:ext cx="3810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5 agenda items · 2 need decisions · 3 open tasks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DC3AFB-B3A0-4F13-BDE7-691B46C2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289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1. Cybersecurity readiness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39DEF1-64EA-41BE-B095-E7B29EE7C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098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0C3B2-DD60-4B31-9009-42E225C1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956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2. Cash runway and hiring 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4F0AC-C550-4521-A73D-DF33D2DB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8765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2 overdue tasks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B87F58-35E2-41A9-B5C0-BABA7D38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1623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3. CEO succession planning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3C8D4C-E95C-4A7B-9D5E-5FC042F4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1432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57A8"/>
                </a:solidFill>
                <a:latin typeface="Aptos"/>
                <a:ea typeface="Aptos"/>
                <a:cs typeface="Aptos"/>
              </a:rPr>
              <a:t>Historical brief ready</a:t>
            </a:r>
          </a:p>
        </p:txBody>
      </p:sp>
      <p:sp>
        <p:nvSpPr>
          <p:cNvPr id="23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55B8CF9C-68D0-4757-9BFB-0A233251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133600"/>
            <a:ext cx="1238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4B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meeting 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40464F-97FE-46E4-ADBF-66629350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90650"/>
            <a:ext cx="32766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194021-F11A-4EBD-B1BA-E5044F86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571625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EXECUTION HEALTH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7F76950-F6CF-40CA-A2F6-BC4364B5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05000"/>
            <a:ext cx="7048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7A9B09-25C2-4666-9102-D6DE907B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16668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actions need attention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01C33D-39A1-47E2-A628-8ED8161F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24125"/>
            <a:ext cx="1428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3 overdue</a:t>
            </a:r>
          </a:p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2 blocked</a:t>
            </a:r>
          </a:p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2 unassigned</a:t>
            </a:r>
          </a:p>
        </p:txBody>
      </p:sp>
      <p:sp>
        <p:nvSpPr>
          <p:cNvPr id="29" name="">
            <a:hlinkClick xmlns:a="http://schemas.openxmlformats.org/drawingml/2006/main" action="ppaction://hlinkshowjump?jump=lastslide"/>
            <a:extLst xmlns:a="http://schemas.openxmlformats.org/drawingml/2006/main">
              <a:ext uri="{FF2B5EF4-FFF2-40B4-BE49-F238E27FC236}">
                <a16:creationId xmlns:a16="http://schemas.microsoft.com/office/drawing/2014/main" id="{4F20A21A-A0E3-4895-B25E-117D262C8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95575"/>
            <a:ext cx="13525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View task board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7C93E7C-9084-4CB1-ADCE-8CDFDBD6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3695700"/>
            <a:ext cx="209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ATTENTION QUEUE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6DAEC0B-A984-4322-AA1E-621AAA32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038600"/>
            <a:ext cx="300037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79291-A87B-4AFA-AD60-2F1E984A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1910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12 days</a:t>
            </a:r>
          </a:p>
        </p:txBody>
      </p:sp>
      <p:sp>
        <p:nvSpPr>
          <p:cNvPr id="33" name="">
            <a:hlinkClick xmlns:a="http://schemas.openxmlformats.org/drawingml/2006/main" action="ppaction://hlinkshowjump?jump=undefined"/>
            <a:extLst xmlns:a="http://schemas.openxmlformats.org/drawingml/2006/main">
              <a:ext uri="{FF2B5EF4-FFF2-40B4-BE49-F238E27FC236}">
                <a16:creationId xmlns:a16="http://schemas.microsoft.com/office/drawing/2014/main" id="{FD9C83EE-414D-415A-9950-95AE4B624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572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Decision follow-up missing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9DF53C-52FE-405A-AA3A-2778709CC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086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Market expansion approval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955D60-113D-4077-B0A9-FF83A59D1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3340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No task created after decision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2FEC4C1-E9FD-4FC5-BEB6-5D24D1D28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038600"/>
            <a:ext cx="300037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20664E-BB43-4CEA-9B7D-96D109BE2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1910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5 days</a:t>
            </a:r>
          </a:p>
        </p:txBody>
      </p:sp>
      <p:sp>
        <p:nvSpPr>
          <p:cNvPr id="38" name="">
            <a:hlinkClick xmlns:a="http://schemas.openxmlformats.org/drawingml/2006/main" action="ppaction://hlinkshowjump?jump=undefined"/>
            <a:extLst xmlns:a="http://schemas.openxmlformats.org/drawingml/2006/main">
              <a:ext uri="{FF2B5EF4-FFF2-40B4-BE49-F238E27FC236}">
                <a16:creationId xmlns:a16="http://schemas.microsoft.com/office/drawing/2014/main" id="{1C51F7A9-A023-435A-899F-6363DDD3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572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Owner has not confirmed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AD36EC-1A20-4DA6-BA95-3456E3325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86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Update board risk register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EED6BB-5FB8-4A6E-A421-D6A0FFF1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3340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Assigned to Risk Committee Chair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5B78EE-776C-4C1C-8F74-D02479A3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38600"/>
            <a:ext cx="3000375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11E873-E53D-4C67-9C49-D5EFDBE5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91000"/>
            <a:ext cx="685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21 days</a:t>
            </a:r>
          </a:p>
        </p:txBody>
      </p:sp>
      <p:sp>
        <p:nvSpPr>
          <p:cNvPr id="43" name="">
            <a:hlinkClick xmlns:a="http://schemas.openxmlformats.org/drawingml/2006/main" action="ppaction://hlinkshowjump?jump=undefined"/>
            <a:extLst xmlns:a="http://schemas.openxmlformats.org/drawingml/2006/main">
              <a:ext uri="{FF2B5EF4-FFF2-40B4-BE49-F238E27FC236}">
                <a16:creationId xmlns:a16="http://schemas.microsoft.com/office/drawing/2014/main" id="{468E66F5-F6AD-4150-B3C1-E1AE66F8C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57200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Recurring duty approaching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7DCF478-D337-4D4C-ABC1-1734EAC4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086350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Approve annual budget assumptions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F531777-5996-4254-A815-9A98B816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3340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Annual Wheel · due in 21 days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A65B80-79E3-41EA-B01B-9BFB4DEA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1912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Design intent: the dashboard is an exception queue, not a document library.</a:t>
            </a:r>
          </a:p>
        </p:txBody>
      </p:sp>
    </p:spTree>
    <p:extLst>
      <p:ext uri="{BB962C8B-B14F-4D97-AF65-F5344CB8AC3E}">
        <p14:creationId xmlns:p14="http://schemas.microsoft.com/office/powerpoint/2010/main" val="16510904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3D4961-9470-4AE1-B8BE-C9AF8115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66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CA0AB3-A219-48B5-8BFB-75E8BF99D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BOARD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D451BB-709B-4C55-93DC-A62C0D4E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667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5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5CD"/>
                </a:solidFill>
                <a:latin typeface="Aptos"/>
                <a:ea typeface="Aptos"/>
                <a:cs typeface="Aptos"/>
              </a:rPr>
              <a:t>Northstar Board</a:t>
            </a:r>
          </a:p>
        </p:txBody>
      </p:sp>
      <p:sp>
        <p:nvSpPr>
          <p:cNvPr id="4" name="">
            <a:hlinkClick xmlns:a="http://schemas.openxmlformats.org/drawingml/2006/main" action="ppaction://hlinkshowjump?jump=firstslide"/>
            <a:extLst xmlns:a="http://schemas.openxmlformats.org/drawingml/2006/main">
              <a:ext uri="{FF2B5EF4-FFF2-40B4-BE49-F238E27FC236}">
                <a16:creationId xmlns:a16="http://schemas.microsoft.com/office/drawing/2014/main" id="{5C4EB099-34EF-44C8-89FA-1390B7DCA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287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5" name="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AE8EFE24-2527-4042-86CC-9CB67692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9240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35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352A"/>
                </a:solidFill>
                <a:latin typeface="Aptos"/>
                <a:ea typeface="Aptos"/>
                <a:cs typeface="Aptos"/>
              </a:rPr>
              <a:t>Meetings</a:t>
            </a:r>
          </a:p>
        </p:txBody>
      </p:sp>
      <p:sp>
        <p:nvSpPr>
          <p:cNvPr id="6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F8E12396-259B-4B22-BFCD-7837EEE6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193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Agenda items</a:t>
            </a:r>
          </a:p>
        </p:txBody>
      </p:sp>
      <p:sp>
        <p:nvSpPr>
          <p:cNvPr id="7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25F33848-67F2-4053-A7AA-5E463E45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9146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Task board</a:t>
            </a:r>
          </a:p>
        </p:txBody>
      </p:sp>
      <p:sp>
        <p:nvSpPr>
          <p:cNvPr id="8" name="">
            <a:hlinkClick xmlns:a="http://schemas.openxmlformats.org/drawingml/2006/main" action="ppaction://hlinkshowjump?jump=lastslide"/>
            <a:extLst xmlns:a="http://schemas.openxmlformats.org/drawingml/2006/main">
              <a:ext uri="{FF2B5EF4-FFF2-40B4-BE49-F238E27FC236}">
                <a16:creationId xmlns:a16="http://schemas.microsoft.com/office/drawing/2014/main" id="{D783EEE6-4A28-4E4C-8AC5-DF607D059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099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Annual wheel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FC5F71-8041-46F3-B3AC-B15C0DB2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1912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Prototype navigation</a:t>
            </a:r>
          </a:p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Click green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172EDF-81CD-4C18-BAFA-3AE249AF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MEETING WORKSPACE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C0134-47E3-4E3A-BC68-6599B31A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6250"/>
            <a:ext cx="685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Q2 Board Meeting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5B93D2-796B-4414-8F63-6E0D2992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18 June 2026 · 09:00–11:30 · Copenhagen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738115-48B4-48B1-96B6-2B4E632D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5334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3658E9-3B57-4ECE-AA1F-6C55942A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81125"/>
            <a:ext cx="2857500" cy="48577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60BB52-7DFE-4E01-8BE0-63AC83A6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562100"/>
            <a:ext cx="190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AGENDA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DCEDB-C194-4B27-BE82-4088572C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24050"/>
            <a:ext cx="2590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8461C5-5122-4C1A-8D25-D4A3E9F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0764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10AC90-BF9A-4A59-BE04-65684626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9907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Approve previous minutes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0EC865-7B62-4A8A-924E-6611748F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568145-3B4C-4412-BC71-BE5D4C03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67000"/>
            <a:ext cx="2590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5F0E8"/>
          </a:solidFill>
          <a:ln xmlns:a="http://schemas.openxmlformats.org/drawingml/2006/main" w="19050">
            <a:solidFill>
              <a:srgbClr val="356B4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A7173F-F705-4FC8-9BF0-5A4EEF12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194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4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7DEE5A-085D-4051-A331-4DD938457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73367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Cybersecurity readiness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9D77B0-66E1-42F4-AEEE-BA725010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289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6B4B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0780D-34B2-46D4-9BDC-EC47738C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409950"/>
            <a:ext cx="2590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5ABCB8-737E-4E48-91D6-716876CB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5623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A662A6-0506-4AEC-8D86-A02065EEE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4766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Cash runway and hiring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9D479A-C601-4063-A508-801FCB28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7719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Discussion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444941E-E9B3-4589-B3E9-2067DAC96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152900"/>
            <a:ext cx="2590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A46A296-C286-49A1-99D5-5DDFA907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3053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5041A4-7955-480E-99DF-A452D824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21957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CEO succession planning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E35DB5-7FB1-4478-9869-9013BAE6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1485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Follow-up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103C61-0475-4052-9964-D1F4D1BAA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95850"/>
            <a:ext cx="2590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416401-D834-4B39-B1F1-807E344CC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50482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F7C898D-E080-42D8-91B3-C55BF0946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962525"/>
            <a:ext cx="1952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Any other business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35E6486-4FA1-4D91-8BB1-F91FE212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257800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Information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8A946DD-9D75-4075-A709-021784C1D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381125"/>
            <a:ext cx="6610350" cy="4857750"/>
          </a:xfrm>
          <a:prstGeom xmlns:a="http://schemas.openxmlformats.org/drawingml/2006/main" prst="roundRect">
            <a:avLst>
              <a:gd name="adj" fmla="val 15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E472C6-4298-4771-B257-0D6F88888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5621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ACTIVE AGENDA ITEM</a:t>
            </a:r>
          </a:p>
        </p:txBody>
      </p:sp>
      <p:sp>
        <p:nvSpPr>
          <p:cNvPr id="38" name="">
            <a:hlinkClick xmlns:a="http://schemas.openxmlformats.org/drawingml/2006/main" action="ppaction://hlinkshowjump?jump=undefined"/>
            <a:extLst xmlns:a="http://schemas.openxmlformats.org/drawingml/2006/main">
              <a:ext uri="{FF2B5EF4-FFF2-40B4-BE49-F238E27FC236}">
                <a16:creationId xmlns:a16="http://schemas.microsoft.com/office/drawing/2014/main" id="{656E3A66-D777-41D1-A1CF-6BE6D0C1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8097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Cybersecurity readiness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06A0E6-95AF-4A36-8AC4-2044A6DA4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19275"/>
            <a:ext cx="1581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50BAADF-F571-4B88-AC1D-8C8C87E12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2860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Decision objective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5A7D0AF-91AB-46AC-A48D-97440066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05075"/>
            <a:ext cx="5810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Approve an external penetration test and confirm remediation ownership.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1C42468-8A63-4607-A37C-1009214E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48000"/>
            <a:ext cx="4000500" cy="21336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BFCFB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D7E360-AE28-4AFB-B614-E0266C50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19450"/>
            <a:ext cx="1714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LIVE NOTES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8F829C4-0FC3-428C-BC30-8A0B1708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543300"/>
            <a:ext cx="35718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• IT recommends an external test before Q3.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• Chair asks for a named remediation owner.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• Budget ceiling discussed: DKK 150k.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Type meeting notes here…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252CC1A-1F2A-42ED-BD7D-17407FD0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048000"/>
            <a:ext cx="1981200" cy="213360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3CB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723D04D-2DF1-4421-8961-B83FC0FEC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2194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57A8"/>
                </a:solidFill>
                <a:latin typeface="Aptos"/>
                <a:ea typeface="Aptos"/>
                <a:cs typeface="Aptos"/>
              </a:rPr>
              <a:t>AI COPILOT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4BBF0D1-1C40-443A-9165-C4DF51DD6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524250"/>
            <a:ext cx="161925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Historical signal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 similar test was deferred in Sep 2025.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Open question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Who owns remediation after findings?</a:t>
            </a:r>
          </a:p>
        </p:txBody>
      </p:sp>
      <p:sp>
        <p:nvSpPr>
          <p:cNvPr id="48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7589C59A-0C57-4AE6-8E8E-A2F1F0ED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5476875"/>
            <a:ext cx="200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4B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 full agenda item →</a:t>
            </a:r>
          </a:p>
        </p:txBody>
      </p:sp>
      <p:sp>
        <p:nvSpPr>
          <p:cNvPr id="49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064EA733-BEC5-4C93-AB62-38BA4C53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5476875"/>
            <a:ext cx="1543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Capture decision</a:t>
            </a:r>
          </a:p>
        </p:txBody>
      </p:sp>
      <p:sp>
        <p:nvSpPr>
          <p:cNvPr id="50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E9DF455B-48B8-45FD-9F7F-D372B779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5476875"/>
            <a:ext cx="1619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AI review notes</a:t>
            </a:r>
          </a:p>
        </p:txBody>
      </p:sp>
    </p:spTree>
    <p:extLst>
      <p:ext uri="{BB962C8B-B14F-4D97-AF65-F5344CB8AC3E}">
        <p14:creationId xmlns:p14="http://schemas.microsoft.com/office/powerpoint/2010/main" val="1737751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1ADE10-A212-46B4-9D78-C8E9B53C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66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8D5424-EFEA-4708-A8B7-62B1EDEDA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BOARD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7BBB00-086E-4C55-B40D-190F82EA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667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5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5CD"/>
                </a:solidFill>
                <a:latin typeface="Aptos"/>
                <a:ea typeface="Aptos"/>
                <a:cs typeface="Aptos"/>
              </a:rPr>
              <a:t>Northstar Board</a:t>
            </a:r>
          </a:p>
        </p:txBody>
      </p:sp>
      <p:sp>
        <p:nvSpPr>
          <p:cNvPr id="4" name="">
            <a:hlinkClick xmlns:a="http://schemas.openxmlformats.org/drawingml/2006/main" action="ppaction://hlinkshowjump?jump=firstslide"/>
            <a:extLst xmlns:a="http://schemas.openxmlformats.org/drawingml/2006/main">
              <a:ext uri="{FF2B5EF4-FFF2-40B4-BE49-F238E27FC236}">
                <a16:creationId xmlns:a16="http://schemas.microsoft.com/office/drawing/2014/main" id="{23EA3CA5-5843-4F6C-916E-9AC17509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287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5" name="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08318F53-B2B3-40C8-86F0-23D8708A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9240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Meetings</a:t>
            </a:r>
          </a:p>
        </p:txBody>
      </p:sp>
      <p:sp>
        <p:nvSpPr>
          <p:cNvPr id="6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7E75B810-9B05-4DD9-8EE8-1B49846D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193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35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352A"/>
                </a:solidFill>
                <a:latin typeface="Aptos"/>
                <a:ea typeface="Aptos"/>
                <a:cs typeface="Aptos"/>
              </a:rPr>
              <a:t>Agenda items</a:t>
            </a:r>
          </a:p>
        </p:txBody>
      </p:sp>
      <p:sp>
        <p:nvSpPr>
          <p:cNvPr id="7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B488B34D-170A-40E9-820D-93AF789D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9146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Task board</a:t>
            </a:r>
          </a:p>
        </p:txBody>
      </p:sp>
      <p:sp>
        <p:nvSpPr>
          <p:cNvPr id="8" name="">
            <a:hlinkClick xmlns:a="http://schemas.openxmlformats.org/drawingml/2006/main" action="ppaction://hlinkshowjump?jump=lastslide"/>
            <a:extLst xmlns:a="http://schemas.openxmlformats.org/drawingml/2006/main">
              <a:ext uri="{FF2B5EF4-FFF2-40B4-BE49-F238E27FC236}">
                <a16:creationId xmlns:a16="http://schemas.microsoft.com/office/drawing/2014/main" id="{B7FEE460-5C22-4011-8878-729D954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099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Annual wheel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D01E1C-B00A-4087-BA59-690E093D3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1912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Prototype navigation</a:t>
            </a:r>
          </a:p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Click green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632855-68B1-46F3-B491-B579C5F57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AGENDA ITEM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EA62B3-F3A3-47B8-9FED-84372E17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6250"/>
            <a:ext cx="685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Cybersecurity readiness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7F4CB7-656D-4FF7-90CE-042AFA1B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One durable topic across meetings, decisions and execution.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9499FB5-4D9C-4CE7-B022-20F167A2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33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9DCF3-4807-45FD-B04D-61DE6B91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62075"/>
            <a:ext cx="5810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13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479B9-5424-4E14-880F-D9E83005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24000"/>
            <a:ext cx="2000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FD4C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FD4C5"/>
                </a:solidFill>
                <a:latin typeface="Aptos"/>
                <a:ea typeface="Aptos"/>
                <a:cs typeface="Aptos"/>
              </a:rPr>
              <a:t>HISTORICAL CONTEXT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7638F-45B6-4F81-8395-8DDEBB37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9750"/>
            <a:ext cx="5334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board deferred external testing in Sep 2025 pending the platform migration. Migration completed in March; the original risk remains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372EAB-BD47-41CF-AD4C-61CFE9D4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76475"/>
            <a:ext cx="428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BFD4C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BFD4C5"/>
                </a:solidFill>
                <a:latin typeface="Aptos"/>
                <a:ea typeface="Aptos"/>
                <a:cs typeface="Aptos"/>
              </a:rPr>
              <a:t>3 prior discussions  ·  2 decisions  ·  1 open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07CAC1-2399-4845-A558-D88B65F4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362075"/>
            <a:ext cx="36766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3CB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B95F29-0AED-4FC1-B717-C8DCA203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2400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57A8"/>
                </a:solidFill>
                <a:latin typeface="Aptos"/>
                <a:ea typeface="Aptos"/>
                <a:cs typeface="Aptos"/>
              </a:rPr>
              <a:t>AI PREPARATION BRIEF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0324DE-A2D1-4B1A-96CC-2A489E8F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3143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Recommended decision frame:</a:t>
            </a:r>
          </a:p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Approve scope, budget ceiling and remediation owner.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0F8A1D-0B37-40AE-AB53-1A828E6B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52725"/>
            <a:ext cx="46482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558122-A686-4940-B9EE-65587A26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24175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NOTES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2BDD9F-B89C-4CB5-A669-8080A3C0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2381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18 JUN 2026 · DISCUSSION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E0175-B491-42A3-9082-607D9B34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495675"/>
            <a:ext cx="4191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IT recommends an external penetration test before Q3. The board supports a DKK 150k ceiling, provided a remediation owner is named before procurement.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BEEC7-532E-46C2-9492-44BFA8D5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29125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DECISION DRAFT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F33AAF-F3D0-4373-A954-4C3FCD6D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4191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Approve external penetration testing up to DKK 150k.</a:t>
            </a:r>
          </a:p>
        </p:txBody>
      </p:sp>
      <p:sp>
        <p:nvSpPr>
          <p:cNvPr id="27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CD5A6C6E-72ED-4B91-B398-17173F43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314950"/>
            <a:ext cx="14859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Confirm decision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237EBC-113E-4C2B-AC34-14D161B81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52725"/>
            <a:ext cx="48387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3CB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57A539-BCE1-415C-98A3-FC1A939A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924175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57A8"/>
                </a:solidFill>
                <a:latin typeface="Aptos"/>
                <a:ea typeface="Aptos"/>
                <a:cs typeface="Aptos"/>
              </a:rPr>
              <a:t>AI TASK EXTRACTION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4EE6C29-001D-4E87-9750-D66DA289B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8956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BEA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657A8"/>
                </a:solidFill>
                <a:latin typeface="Aptos"/>
                <a:ea typeface="Aptos"/>
                <a:cs typeface="Aptos"/>
              </a:rPr>
              <a:t>2 proposals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0C4A7F-9761-4CA5-95CF-E32021F54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276600"/>
            <a:ext cx="4419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B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165A2D-5E8F-4A0C-9ADB-A27F9C7A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718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Commission external penetration test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C8559C-593E-4B5C-A2BC-98A6FB32A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5760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Suggested: CTO · Due 15 Jul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72F576C-B0CB-4162-9908-BEAC6F05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766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57A8"/>
                </a:solidFill>
                <a:latin typeface="Aptos"/>
                <a:ea typeface="Aptos"/>
                <a:cs typeface="Aptos"/>
              </a:rPr>
              <a:t>Evidence: discussion + decision draft</a:t>
            </a:r>
          </a:p>
        </p:txBody>
      </p:sp>
      <p:sp>
        <p:nvSpPr>
          <p:cNvPr id="35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AE103A34-46AF-42F6-B4E6-5D65DAA9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733800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8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39D1AA-724B-4226-9FFE-65D504E5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343400"/>
            <a:ext cx="44196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3CBE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2A4FF6-06BD-4946-88B9-11998876C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43865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Name remediation owner and reporting cadence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B37DD88-F451-4D6D-A57A-02141203A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724400"/>
            <a:ext cx="333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Suggested: Risk Committee Chair · Due 25 Jun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0C0CDF-A3BC-4EAF-AAAC-063A18ABF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943475"/>
            <a:ext cx="2952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57A8"/>
                </a:solidFill>
                <a:latin typeface="Aptos"/>
                <a:ea typeface="Aptos"/>
                <a:cs typeface="Aptos"/>
              </a:rPr>
              <a:t>Evidence: chair request</a:t>
            </a:r>
          </a:p>
        </p:txBody>
      </p:sp>
      <p:sp>
        <p:nvSpPr>
          <p:cNvPr id="40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F9BBE0B8-4E8A-4DA7-B778-7B85F940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800600"/>
            <a:ext cx="6191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8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Accept</a:t>
            </a:r>
          </a:p>
        </p:txBody>
      </p:sp>
      <p:sp>
        <p:nvSpPr>
          <p:cNvPr id="41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6D7069EF-86CB-47A7-A954-8750043B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391150"/>
            <a:ext cx="19716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4B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Review accepted tasks →</a:t>
            </a:r>
          </a:p>
        </p:txBody>
      </p:sp>
    </p:spTree>
    <p:extLst>
      <p:ext uri="{BB962C8B-B14F-4D97-AF65-F5344CB8AC3E}">
        <p14:creationId xmlns:p14="http://schemas.microsoft.com/office/powerpoint/2010/main" val="18915082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C72CAC-2800-4AC5-A292-EE1CB5356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66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E6EDD-3168-4BB5-BFCC-0474CAAC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BOARD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E47EB-5079-4E32-B732-0DCC089A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667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5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5CD"/>
                </a:solidFill>
                <a:latin typeface="Aptos"/>
                <a:ea typeface="Aptos"/>
                <a:cs typeface="Aptos"/>
              </a:rPr>
              <a:t>Northstar Board</a:t>
            </a:r>
          </a:p>
        </p:txBody>
      </p:sp>
      <p:sp>
        <p:nvSpPr>
          <p:cNvPr id="4" name="">
            <a:hlinkClick xmlns:a="http://schemas.openxmlformats.org/drawingml/2006/main" action="ppaction://hlinkshowjump?jump=firstslide"/>
            <a:extLst xmlns:a="http://schemas.openxmlformats.org/drawingml/2006/main">
              <a:ext uri="{FF2B5EF4-FFF2-40B4-BE49-F238E27FC236}">
                <a16:creationId xmlns:a16="http://schemas.microsoft.com/office/drawing/2014/main" id="{0FCD8CB1-4A2E-4E81-9038-63DE7BB0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287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5" name="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4FB7F8DF-085A-404D-8170-25AA4E42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9240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Meetings</a:t>
            </a:r>
          </a:p>
        </p:txBody>
      </p:sp>
      <p:sp>
        <p:nvSpPr>
          <p:cNvPr id="6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E690287C-CEE9-4DBC-9B9E-CEA4ED38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193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Agenda items</a:t>
            </a:r>
          </a:p>
        </p:txBody>
      </p:sp>
      <p:sp>
        <p:nvSpPr>
          <p:cNvPr id="7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3ED8D9D3-ED76-489E-A0AF-4E84D044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9146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35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352A"/>
                </a:solidFill>
                <a:latin typeface="Aptos"/>
                <a:ea typeface="Aptos"/>
                <a:cs typeface="Aptos"/>
              </a:rPr>
              <a:t>Task board</a:t>
            </a:r>
          </a:p>
        </p:txBody>
      </p:sp>
      <p:sp>
        <p:nvSpPr>
          <p:cNvPr id="8" name="">
            <a:hlinkClick xmlns:a="http://schemas.openxmlformats.org/drawingml/2006/main" action="ppaction://hlinkshowjump?jump=lastslide"/>
            <a:extLst xmlns:a="http://schemas.openxmlformats.org/drawingml/2006/main">
              <a:ext uri="{FF2B5EF4-FFF2-40B4-BE49-F238E27FC236}">
                <a16:creationId xmlns:a16="http://schemas.microsoft.com/office/drawing/2014/main" id="{EF56F689-05FB-48E6-8BA3-B114037B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099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Annual wheel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392824-2909-4700-B5E9-CD96DEF9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1912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Prototype navigation</a:t>
            </a:r>
          </a:p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Click green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2E4339-4F1A-4778-BDEC-8E3D21DF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EXECUTION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6D1FB-032A-491F-A3DF-D556248B0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6250"/>
            <a:ext cx="685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Board task board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9A94E0-7C50-4674-90D5-E2FB84B28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Every task retains the agenda item, decision and evidence that created it.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89EC4-2A5A-4DDD-9F09-01D8DF6B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334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0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12 ACTIVE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E85C3E-5B0C-4C89-9D57-CD469641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381125"/>
            <a:ext cx="1866900" cy="47625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CE3C50-BE51-4D25-909D-08834A4AF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504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Backlog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D521EE-DCF4-4CBF-9080-CA999664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4954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4DC2E2-E8BF-4A8E-AC63-44DCB8B5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381125"/>
            <a:ext cx="1866900" cy="47625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079F56-E9DB-4F34-8B80-BE6829E4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04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To do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6059E5-E99C-4E9E-BDB7-022D6E46A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954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1459AA8-A53E-4335-87A8-3CDFF648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381125"/>
            <a:ext cx="1866900" cy="47625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A14EF0-3720-4968-BC4D-C89DEA99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04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In progress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B8F02E-0470-4357-978B-154C5657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4954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851823-7CED-47FB-9535-B37AF17E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381125"/>
            <a:ext cx="1866900" cy="47625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CF7F3"/>
          </a:solidFill>
          <a:ln xmlns:a="http://schemas.openxmlformats.org/drawingml/2006/main" w="9525">
            <a:solidFill>
              <a:srgbClr val="E5C8B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585AD-74D3-4A90-99B1-CC5E8BEA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504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Blocked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97F30B-13EA-483C-BE97-B9E346B2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4954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42B9B6-7A9E-4846-9406-86BAC618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381125"/>
            <a:ext cx="1866900" cy="47625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0F2E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96BDA4-A332-42B6-A615-640CA1DA3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150495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Done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2E10C7-243F-46A2-9097-646110E4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1495425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68736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F19D8A-5A79-49AB-B4BA-6F09DFCA7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92405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7CC574-3DFC-4718-A322-2A10991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019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Prepare Q3 strategy options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AC4E56-FDE4-4D77-A040-2CA923D8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28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6B4B"/>
                </a:solidFill>
                <a:latin typeface="Aptos"/>
                <a:ea typeface="Aptos"/>
                <a:cs typeface="Aptos"/>
              </a:rPr>
              <a:t>Strategy review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A3F8D44-52DB-43C8-B967-EC005C33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CEO · 10 Jul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A6DAAA-331A-468D-B55B-50C139E0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2405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8F07F0F-CEFF-4234-ADDD-7E69C7379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019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Commission penetration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0C9051-E54E-40F4-A264-90CF8625E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28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6B4B"/>
                </a:solidFill>
                <a:latin typeface="Aptos"/>
                <a:ea typeface="Aptos"/>
                <a:cs typeface="Aptos"/>
              </a:rPr>
              <a:t>Cybersecurity readiness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174216-FDC2-4883-9E91-0C59E6032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CTO · 15 Jul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B5B5BD8-BF70-4D5F-B80E-B8F1B36D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14325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E9DF"/>
          </a:solidFill>
          <a:ln xmlns:a="http://schemas.openxmlformats.org/drawingml/2006/main" w="9525">
            <a:solidFill>
              <a:srgbClr val="E5C8B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18DACA-E8AE-4124-8934-AC962271B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238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Update board risk register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E4F121-4D09-4A63-B229-8FD15236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48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6B4B"/>
                </a:solidFill>
                <a:latin typeface="Aptos"/>
                <a:ea typeface="Aptos"/>
                <a:cs typeface="Aptos"/>
              </a:rPr>
              <a:t>Risk oversight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2E8B74F-898E-4EB8-AA4D-C0A0029E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867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Unassigned · 20 Jun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0278B2B-3611-4E5A-A4BC-4455A84B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2405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2D6902-BDCB-465E-824C-B7EB8B83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Draft revised hiring plan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F81AEB1-D4F6-4E39-9532-2B2A8A90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28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6B4B"/>
                </a:solidFill>
                <a:latin typeface="Aptos"/>
                <a:ea typeface="Aptos"/>
                <a:cs typeface="Aptos"/>
              </a:rPr>
              <a:t>Cash runway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7C9A78C-0EA4-424B-8A99-F00DF9A0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CFO · 25 Jun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621048-A565-4DA0-BC85-45C3BCD1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14325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1EEBE1-C0D5-4FE9-A463-07AF20BE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Name remediation owner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60628F-DD07-4E6B-A68C-384B9153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6480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6B4B"/>
                </a:solidFill>
                <a:latin typeface="Aptos"/>
                <a:ea typeface="Aptos"/>
                <a:cs typeface="Aptos"/>
              </a:rPr>
              <a:t>Cybersecurity readiness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7EEB84-5B85-4BC2-8630-FD2EA125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Risk Chair · 25 Jun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238C52-A8DB-438B-A707-6C81F93F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2405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7E9DF"/>
          </a:solidFill>
          <a:ln xmlns:a="http://schemas.openxmlformats.org/drawingml/2006/main" w="9525">
            <a:solidFill>
              <a:srgbClr val="E5C8B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625F6B8-B17C-4350-B47E-945F52763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019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Obtain legal opinion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D4BE76-6DA2-4BC6-97D4-8E37DB127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28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6B4B"/>
                </a:solidFill>
                <a:latin typeface="Aptos"/>
                <a:ea typeface="Aptos"/>
                <a:cs typeface="Aptos"/>
              </a:rPr>
              <a:t>Market expansion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B3572D9-5BDD-4D79-A3A2-7C09BD7B0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47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Blocked by counsel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AFCBAD-7025-43AE-8FDE-3820BEE6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1924050"/>
            <a:ext cx="1676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DA138CF-CCF9-4A7D-8333-ECCB62595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19300"/>
            <a:ext cx="1428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Approve audit scope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AD5FC5-8A33-4210-B54E-0E2C0FFA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428875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356B4B"/>
                </a:solidFill>
                <a:latin typeface="Aptos"/>
                <a:ea typeface="Aptos"/>
                <a:cs typeface="Aptos"/>
              </a:rPr>
              <a:t>Annual audit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389945-5D6B-4FE2-B614-FAECB8C4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647950"/>
            <a:ext cx="1428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Done 2 Jun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C66D5B-79AC-4C94-BF86-1D5095E6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30555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Drag cards between columns in implementation. Opening a card shows source notes, decision, owner history and activity.</a:t>
            </a:r>
          </a:p>
        </p:txBody>
      </p:sp>
      <p:sp>
        <p:nvSpPr>
          <p:cNvPr id="58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9EBEB652-E0C1-4413-ACCC-20758CAB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238875"/>
            <a:ext cx="2038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4B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 annual obligations →</a:t>
            </a:r>
          </a:p>
        </p:txBody>
      </p:sp>
    </p:spTree>
    <p:extLst>
      <p:ext uri="{BB962C8B-B14F-4D97-AF65-F5344CB8AC3E}">
        <p14:creationId xmlns:p14="http://schemas.microsoft.com/office/powerpoint/2010/main" val="19952010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D6A826-EA47-479B-B54F-F3212142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66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35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0B380D-BC28-417B-90A2-CF42B3DB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500"/>
            <a:ext cx="1428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BOARD</a:t>
            </a:r>
          </a:p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231837-AB65-4A5D-B3E9-8483FC4A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66775"/>
            <a:ext cx="1428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9D5C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9D5CD"/>
                </a:solidFill>
                <a:latin typeface="Aptos"/>
                <a:ea typeface="Aptos"/>
                <a:cs typeface="Aptos"/>
              </a:rPr>
              <a:t>Northstar Board</a:t>
            </a:r>
          </a:p>
        </p:txBody>
      </p:sp>
      <p:sp>
        <p:nvSpPr>
          <p:cNvPr id="4" name="">
            <a:hlinkClick xmlns:a="http://schemas.openxmlformats.org/drawingml/2006/main" action="ppaction://hlinkshowjump?jump=firstslide"/>
            <a:extLst xmlns:a="http://schemas.openxmlformats.org/drawingml/2006/main">
              <a:ext uri="{FF2B5EF4-FFF2-40B4-BE49-F238E27FC236}">
                <a16:creationId xmlns:a16="http://schemas.microsoft.com/office/drawing/2014/main" id="{C1AB86D7-96B8-4452-8DC5-FD45E5C3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4287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5" name="">
            <a:hlinkClick xmlns:a="http://schemas.openxmlformats.org/drawingml/2006/main" action="ppaction://hlinkshowjump?jump=previousslide"/>
            <a:extLst xmlns:a="http://schemas.openxmlformats.org/drawingml/2006/main">
              <a:ext uri="{FF2B5EF4-FFF2-40B4-BE49-F238E27FC236}">
                <a16:creationId xmlns:a16="http://schemas.microsoft.com/office/drawing/2014/main" id="{14D689EA-536A-48CA-8479-D2BAF346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19240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Meetings</a:t>
            </a:r>
          </a:p>
        </p:txBody>
      </p:sp>
      <p:sp>
        <p:nvSpPr>
          <p:cNvPr id="6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3C8D9BB7-C71B-4DF5-8CAE-099A23F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4193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Agenda items</a:t>
            </a:r>
          </a:p>
        </p:txBody>
      </p:sp>
      <p:sp>
        <p:nvSpPr>
          <p:cNvPr id="7" name="">
            <a:hlinkClick xmlns:a="http://schemas.openxmlformats.org/drawingml/2006/main" action="ppaction://hlinkshowjump?jump=nextslide"/>
            <a:extLst xmlns:a="http://schemas.openxmlformats.org/drawingml/2006/main">
              <a:ext uri="{FF2B5EF4-FFF2-40B4-BE49-F238E27FC236}">
                <a16:creationId xmlns:a16="http://schemas.microsoft.com/office/drawing/2014/main" id="{1ACBC372-0E20-4468-9713-AE6D39768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29146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DDE6E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DDE6E0"/>
                </a:solidFill>
                <a:latin typeface="Aptos"/>
                <a:ea typeface="Aptos"/>
                <a:cs typeface="Aptos"/>
              </a:rPr>
              <a:t>Task board</a:t>
            </a:r>
          </a:p>
        </p:txBody>
      </p:sp>
      <p:sp>
        <p:nvSpPr>
          <p:cNvPr id="8" name="">
            <a:hlinkClick xmlns:a="http://schemas.openxmlformats.org/drawingml/2006/main" action="ppaction://hlinkshowjump?jump=lastslide"/>
            <a:extLst xmlns:a="http://schemas.openxmlformats.org/drawingml/2006/main">
              <a:ext uri="{FF2B5EF4-FFF2-40B4-BE49-F238E27FC236}">
                <a16:creationId xmlns:a16="http://schemas.microsoft.com/office/drawing/2014/main" id="{A53C7B3C-3F62-4412-ADC2-CCD738F75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" y="3409950"/>
            <a:ext cx="1600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52400" tIns="38100" rIns="76200" bIns="38100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135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1352A"/>
                </a:solidFill>
                <a:latin typeface="Aptos"/>
                <a:ea typeface="Aptos"/>
                <a:cs typeface="Aptos"/>
              </a:rPr>
              <a:t>Annual wheel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AABB1-3787-4F81-B149-9417C25F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6191250"/>
            <a:ext cx="1428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Prototype navigation</a:t>
            </a:r>
          </a:p>
          <a:p xmlns:a="http://schemas.openxmlformats.org/drawingml/2006/main">
            <a:pPr algn="l">
              <a:defRPr sz="825" b="0">
                <a:solidFill>
                  <a:srgbClr val="AEBDB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DB3"/>
                </a:solidFill>
                <a:latin typeface="Aptos"/>
                <a:ea typeface="Aptos"/>
                <a:cs typeface="Aptos"/>
              </a:rPr>
              <a:t>Click green actions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693B48-B808-48AB-93C2-EA94B75E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2860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GOVERNANCE RHYTHM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DAE20-1A6D-4992-865C-EE4A5B979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476250"/>
            <a:ext cx="68580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Annual Wheel · 2026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D124DE-F232-4B20-B651-D3C11E8F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914400"/>
            <a:ext cx="7620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Recurring responsibilities become agenda items and preparation tasks before deadlines arrive.</a:t>
            </a:r>
          </a:p>
        </p:txBody>
      </p:sp>
      <p:sp>
        <p:nvSpPr>
          <p:cNvPr id="13" name="">
            <a:hlinkClick xmlns:a="http://schemas.openxmlformats.org/drawingml/2006/main" action="ppaction://hlinkshowjump?jump=firstslide"/>
            <a:extLst xmlns:a="http://schemas.openxmlformats.org/drawingml/2006/main">
              <a:ext uri="{FF2B5EF4-FFF2-40B4-BE49-F238E27FC236}">
                <a16:creationId xmlns:a16="http://schemas.microsoft.com/office/drawing/2014/main" id="{916442BC-9A13-4AA4-BF96-9628070BE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42925"/>
            <a:ext cx="1657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+ Add recurring item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7649D-B871-4244-9536-04869BE6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381125"/>
            <a:ext cx="7067550" cy="4743450"/>
          </a:xfrm>
          <a:prstGeom xmlns:a="http://schemas.openxmlformats.org/drawingml/2006/main" prst="roundRect">
            <a:avLst>
              <a:gd name="adj" fmla="val 1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7BB9F0-CDE8-469A-B5AB-F9CC0ECE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56210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YEAR 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378497-D292-4A28-8E63-143A1DF4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924050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723D1C-0254-4235-9DEE-1423AC13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00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Jan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687F6A-08DF-48C9-B401-0C534B8FF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1924050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0BE9A4-6BA1-4BE5-B443-53E4567D5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000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Feb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762CD1-146D-4DAB-9666-BBFC29BD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24050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6B101-8107-420E-A41E-330EA372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000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Mar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D2DC51-F4B2-4C58-98B9-5DF8B875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924050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EDFD00-50E5-406A-9B78-7C70BCE3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0002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Apr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D5E75E-6352-4219-BD6C-2007FF5D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28975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378FD3-F2F7-4425-8520-12E5CECC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051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May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853013-0DB0-4721-B029-46C7AB74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3228975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5F0E8"/>
          </a:solidFill>
          <a:ln xmlns:a="http://schemas.openxmlformats.org/drawingml/2006/main" w="19050">
            <a:solidFill>
              <a:srgbClr val="356B4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D9440-1E3E-4487-91E6-D6720595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33051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Jun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338FB0D-09C3-4C94-87B2-C183F3C8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28975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C9DD17-65BB-4372-AD76-74E7AFF0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051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Jul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FE16CB-3F2E-4292-81BA-86B6540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228975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3BB301-4671-40B4-802F-4AD1BA9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3051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Aug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5B6374-31C0-4DEC-B3B7-B315AC9C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533900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3735DF-2C90-46EC-8796-174B0081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610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Sep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EC577A7-7718-4EE2-8A7F-43631594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4533900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0BBEE9-666D-40B0-A3FB-314CE9EC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4610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Oct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8A1647C-9306-4F34-B7C0-A7F83AEF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33900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B77D0F-A1CD-4CFA-A85F-A9911BD7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610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Nov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347963F-2902-47D1-9963-E636A926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33900"/>
            <a:ext cx="14668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AFBFA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1C2C7E-57DC-4095-842F-557FF7F7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1010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Dec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60EFF3-806F-4D99-AA2B-35DA0A603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908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57A8"/>
                </a:solidFill>
                <a:latin typeface="Aptos"/>
                <a:ea typeface="Aptos"/>
                <a:cs typeface="Aptos"/>
              </a:rPr>
              <a:t>Strategy kickoff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A76D13-7BBE-4C55-ABBD-651C83C5C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259080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Risk appetite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FF03B95-A797-4895-9389-957184AC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957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Q2 reporting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6F280A5-FC5C-4078-9F06-732423C1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895725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9525">
            <a:solidFill>
              <a:srgbClr val="B96A32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Cyber review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F872B38-1961-4F9C-ABD6-37C9947F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200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Budget planning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6108476-F265-4E9C-8177-EDAEA72D0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200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8"/>
          </a:solidFill>
          <a:ln xmlns:a="http://schemas.openxmlformats.org/drawingml/2006/main" w="9525">
            <a:solidFill>
              <a:srgbClr val="6657A8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657A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657A8"/>
                </a:solidFill>
                <a:latin typeface="Aptos"/>
                <a:ea typeface="Aptos"/>
                <a:cs typeface="Aptos"/>
              </a:rPr>
              <a:t>CEO evaluation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8A8687C-CDF2-434A-9899-D4D29AD7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5200650"/>
            <a:ext cx="1276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38100" tIns="19050" rIns="38100" bIns="19050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Annual accounts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AE6497-D717-4CE5-965D-496E71204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381125"/>
            <a:ext cx="2419350" cy="47434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D9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F56613-1882-4BD4-B11C-3682FE15A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62100"/>
            <a:ext cx="1333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UP NEXT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54657B4-1B7D-46FA-BB93-2A8CCDC0D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05000"/>
            <a:ext cx="123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D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47625" tIns="19050" rIns="47625" bIns="1905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B96A3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96A32"/>
                </a:solidFill>
                <a:latin typeface="Aptos"/>
                <a:ea typeface="Aptos"/>
                <a:cs typeface="Aptos"/>
              </a:rPr>
              <a:t>DUE IN 21 DAYS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F38A35-0679-4ABE-AC0F-EB755E0FA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95525"/>
            <a:ext cx="1952625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Approve budget assumptions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BCC5D2D-D9BE-4222-843D-036A4925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867025"/>
            <a:ext cx="1952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Recurring responsibility</a:t>
            </a:r>
          </a:p>
          <a:p xmlns:a="http://schemas.openxmlformats.org/drawingml/2006/main">
            <a:pPr algn="l">
              <a:defRPr sz="97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Finance Committee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27E0A2-C7AE-4ACB-918F-8AE6E8744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356B4B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356B4B"/>
                </a:solidFill>
                <a:latin typeface="Aptos"/>
                <a:ea typeface="Aptos"/>
                <a:cs typeface="Aptos"/>
              </a:rPr>
              <a:t>WHEN MATERIALIZED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E7F9B1D-6B62-4D81-B154-0BE39C36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800475"/>
            <a:ext cx="19526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1. Draft agenda item</a:t>
            </a:r>
          </a:p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2. Preparation task for CFO</a:t>
            </a:r>
          </a:p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3. Historical budget context</a:t>
            </a:r>
          </a:p>
          <a:p xmlns:a="http://schemas.openxmlformats.org/drawingml/2006/main">
            <a:pPr algn="l">
              <a:defRPr sz="1050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4. Meeting scheduling suggestion</a:t>
            </a:r>
          </a:p>
        </p:txBody>
      </p:sp>
      <p:sp>
        <p:nvSpPr>
          <p:cNvPr id="54" name="">
            <a:hlinkClick xmlns:a="http://schemas.openxmlformats.org/drawingml/2006/main" action="ppaction://hlinkshowjump?jump=firstslide"/>
            <a:extLst xmlns:a="http://schemas.openxmlformats.org/drawingml/2006/main">
              <a:ext uri="{FF2B5EF4-FFF2-40B4-BE49-F238E27FC236}">
                <a16:creationId xmlns:a16="http://schemas.microsoft.com/office/drawing/2014/main" id="{3652D1DB-C11F-4C3A-871A-78197DCD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1625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6B4B"/>
          </a:solidFill>
          <a:ln xmlns:a="http://schemas.openxmlformats.org/drawingml/2006/main" w="9525">
            <a:solidFill>
              <a:srgbClr val="356B4B"/>
            </a:solidFill>
            <a:prstDash val="solid"/>
          </a:ln>
        </p:spPr>
        <p:txBody>
          <a:bodyPr xmlns:a="http://schemas.openxmlformats.org/drawingml/2006/main" lIns="95250" tIns="47625" rIns="95250" bIns="47625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Create draft agenda item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90A1E77-72CC-46AC-8DDC-C18E40AD1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581650"/>
            <a:ext cx="1952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6C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8736C"/>
                </a:solidFill>
                <a:latin typeface="Aptos"/>
                <a:ea typeface="Aptos"/>
                <a:cs typeface="Aptos"/>
              </a:rPr>
              <a:t>Human confirmation remains the boundary between recurring templates and board commitments.</a:t>
            </a:r>
          </a:p>
        </p:txBody>
      </p:sp>
    </p:spTree>
    <p:extLst>
      <p:ext uri="{BB962C8B-B14F-4D97-AF65-F5344CB8AC3E}">
        <p14:creationId xmlns:p14="http://schemas.microsoft.com/office/powerpoint/2010/main" val="987644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2026-06-11T15:26:28.3990000Z</dcterms:created>
  <dcterms:modified xsi:type="dcterms:W3CDTF">2026-06-11T15:26:28.3990000Z</dcterms:modified>
</coreProperties>
</file>